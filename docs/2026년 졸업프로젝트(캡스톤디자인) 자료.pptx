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9" r:id="rId4"/>
    <p:sldId id="260" r:id="rId5"/>
    <p:sldId id="261" r:id="rId6"/>
    <p:sldId id="262" r:id="rId7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0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A989D-71A5-9EF7-8453-69B6C2809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A0672A-088E-32DB-723F-3CA6C4BD5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4CFAB9-0940-408E-012C-89E1FC3E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28D619-1FB7-C217-1A2A-000B4712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80CFE-2AC1-A9AC-8E5F-2CDAFB3E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94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4B1CE-5838-7948-E897-B0AA8B17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BD3D54-F32D-D72A-AC99-35B0A3876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58685F-F5A9-DD90-556E-8318F3A03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C23E98-14D1-B4F0-699C-2DD39589F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A7975-3F47-0E29-A7F7-4F34EFF6A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63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EE3A2-7FE3-5829-9425-747E3B8A3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D8135C-CB6B-A096-9625-C0B394F87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2E8DD8-3168-9D6C-71A0-1C0705C5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BC4D65-7F7E-074F-A157-CD637905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DFB4B-DF75-E801-2496-FC23951E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43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E6424-31F4-8B40-0DB1-571BB90E3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73DF45-6575-D91F-FAD5-ADC8D1755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D2D301-8DE8-B0FA-4545-DBE1EFFA8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11DC8E-806D-70D7-C1FD-1C65F82D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07012-B129-3A66-25D1-895FAF15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F6A299-F19C-6FD5-7DDC-00C64770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68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AEDAA-1028-1E43-1ABA-A483B20A4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E33CED-3822-B1C3-BC82-278828824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182BA4-4CD3-644A-B611-96EF1E07F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ED3844-DBAD-0F14-A964-BE4754821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B02171-921B-7DF8-55BF-2C581D272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7E9AD5-111E-1973-D35A-1C65E68E6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369F61-3A30-27A8-25FB-5906D4288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B60A85-C1FF-8B9D-CEAA-3415127E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83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EE880-CB87-7E11-927A-592E28B9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2A2578-2207-8B80-8E88-48D7D7B26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0EB456-75A0-2B29-7EEC-68D640E3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C5C7DA-51ED-F16B-253A-79A88D01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77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3F9229-1FE9-7044-0A1A-B5E549CA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97BBE4-972B-7E14-FFBE-DB6089E6F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C0647B-BB8C-4527-5B9B-441C0D3E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20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AE764-36A1-4861-6638-4E60E0B7A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7449E-D63C-4BCB-924B-4BA6A6746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07619A-4E29-B2EC-C094-93770D412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925AEA-47CD-C5F2-753B-64607C01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8772F-7416-DE53-3F4F-190AD36F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C29B4F-5F2C-D97A-E93C-D2ED92E1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357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3A8B1-2ED9-07E1-7852-11E63F1E6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B4C67B-E2A6-0D57-7D48-2E15BCBEF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9F0CB3-95A4-15E9-DD65-8850DE0D9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F64B6B-6714-4983-239D-9685BDB98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E2FA28-23F5-935B-1F2F-5A9A6C9ED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A50AEC-DAEE-31B3-9A9B-3E916741F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22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DC59A-FB03-BB5F-285E-5060CA54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9869B5-9803-E648-8FB8-856389FEC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5FBB1C-5D38-7D30-B85E-71F92EBD2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93433B-2FD2-77AC-9058-4E72ABA0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66095-4EAB-9C40-55B5-728CBEB5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15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616121-A8C8-5492-907A-3E76C644B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A3DC15-2D1B-13BB-BCF8-97C59A1D9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23243-AE14-5B9A-67AB-6A61E108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BBF62B-3345-5AE6-296B-8FDD8BD6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AF6013-5103-24CF-7907-A6EEA9A7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33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9A1240-252A-800F-1F99-BB51087BA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72D99-F1EB-B366-FD0D-135457F7A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BB91EA-684A-331B-0599-27C122F8A2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B41BBB-EFD0-44CA-B62F-EA8532E4D91A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51A671-F0A4-5FEE-236E-C9C7769D4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C14285-FAFA-0D7F-AAE7-974EDA6F4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63D5E-459B-4EAD-8F96-A431DEAC0169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 descr="텍스트, 폰트, 로고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B7E0B9F-13B9-8758-84C7-CC4B5B2007A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7" y="32894"/>
            <a:ext cx="1228089" cy="34751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67063E6-1781-D592-6DE4-A77BEC24301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59"/>
          <a:stretch/>
        </p:blipFill>
        <p:spPr>
          <a:xfrm>
            <a:off x="9982200" y="32894"/>
            <a:ext cx="2172237" cy="30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9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914E11-0EA2-CF6C-8BF6-F1F3BA2F32C9}"/>
              </a:ext>
            </a:extLst>
          </p:cNvPr>
          <p:cNvSpPr txBox="1"/>
          <p:nvPr/>
        </p:nvSpPr>
        <p:spPr>
          <a:xfrm>
            <a:off x="1179364" y="962106"/>
            <a:ext cx="4730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졸업프로젝트</a:t>
            </a:r>
            <a:r>
              <a:rPr lang="en-US" altLang="ko-KR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(</a:t>
            </a:r>
            <a:r>
              <a:rPr lang="ko-KR" altLang="en-US" sz="2800" b="1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캡스톤디자인</a:t>
            </a:r>
            <a:r>
              <a:rPr lang="en-US" altLang="ko-KR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)</a:t>
            </a:r>
            <a:endParaRPr lang="ko-KR" altLang="en-US" sz="28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DemiLight" panose="020B0200000000000000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32EF1-3773-D7D7-1241-8D961AEF7679}"/>
              </a:ext>
            </a:extLst>
          </p:cNvPr>
          <p:cNvSpPr txBox="1"/>
          <p:nvPr/>
        </p:nvSpPr>
        <p:spPr>
          <a:xfrm>
            <a:off x="1025650" y="1556271"/>
            <a:ext cx="9858789" cy="457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Noto Sans TC DemiLight" panose="020B0200000000000000" pitchFamily="34" charset="-128"/>
              </a:rPr>
              <a:t>학생들이 그 동안 배운 전공 지식을 바탕으로 사회나 산업현장의 문제를 스스로 기획하고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, 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설계하고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, 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해결하는 프로그램 수업</a:t>
            </a:r>
            <a:endParaRPr lang="en-US" altLang="ko-KR" sz="1400" b="1" dirty="0">
              <a:latin typeface="Noto Sans TC DemiLight" panose="020B0200000000000000" pitchFamily="34" charset="-128"/>
            </a:endParaRPr>
          </a:p>
          <a:p>
            <a:pPr>
              <a:lnSpc>
                <a:spcPct val="150000"/>
              </a:lnSpc>
            </a:pPr>
            <a:endParaRPr lang="en-US" altLang="ko-KR" sz="1400" b="1" dirty="0">
              <a:latin typeface="Noto Sans TC DemiLight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Noto Sans TC DemiLight" panose="020B0200000000000000" pitchFamily="34" charset="-128"/>
              </a:rPr>
              <a:t>참여대상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: 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컴퓨터공학부 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4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학년</a:t>
            </a:r>
            <a:endParaRPr lang="en-US" altLang="ko-KR" sz="1400" b="1" dirty="0">
              <a:latin typeface="Noto Sans TC DemiLight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Noto Sans TC DemiLight" panose="020B0200000000000000" pitchFamily="34" charset="-128"/>
              </a:rPr>
              <a:t>운영일정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: 26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년 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3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월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~7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월</a:t>
            </a:r>
            <a:endParaRPr lang="en-US" altLang="ko-KR" sz="1400" b="1" dirty="0">
              <a:latin typeface="Noto Sans TC DemiLight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err="1">
                <a:latin typeface="Noto Sans TC DemiLight" panose="020B0200000000000000" pitchFamily="34" charset="-128"/>
              </a:rPr>
              <a:t>멘토기업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 필수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400" b="1" dirty="0">
              <a:latin typeface="Noto Sans TC DemiLight" panose="020B02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Noto Sans TC DemiLight" panose="020B0200000000000000" pitchFamily="34" charset="-128"/>
              </a:rPr>
              <a:t>졸업프로젝트 신청 유형</a:t>
            </a:r>
            <a:endParaRPr lang="en-US" altLang="ko-KR" sz="1400" b="1" dirty="0">
              <a:latin typeface="Noto Sans TC DemiLight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 err="1">
                <a:latin typeface="Noto Sans TC DemiLight" panose="020B0200000000000000" pitchFamily="34" charset="-128"/>
              </a:rPr>
              <a:t>기업연계캡스톤디자인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(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학부생과 기업이 함께하는 프로젝트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Noto Sans TC DemiLight" panose="020B0200000000000000" pitchFamily="34" charset="-128"/>
              </a:rPr>
              <a:t>기업 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– 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개학원연계 </a:t>
            </a:r>
            <a:r>
              <a:rPr lang="ko-KR" altLang="en-US" sz="1400" b="1" dirty="0" err="1">
                <a:latin typeface="Noto Sans TC DemiLight" panose="020B0200000000000000" pitchFamily="34" charset="-128"/>
              </a:rPr>
              <a:t>캡스톤디자인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(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학부생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, 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대학원생과 기업이 함께하는 프로젝트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)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 </a:t>
            </a:r>
            <a:endParaRPr lang="en-US" altLang="ko-KR" sz="1400" b="1" dirty="0">
              <a:latin typeface="Noto Sans TC DemiLight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sz="1400" b="1" dirty="0">
              <a:latin typeface="Noto Sans TC DemiLight" panose="020B0200000000000000" pitchFamily="34" charset="-128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Noto Sans TC DemiLight" panose="020B0200000000000000" pitchFamily="34" charset="-128"/>
              </a:rPr>
              <a:t>졸업프로젝트 지원 사항</a:t>
            </a:r>
            <a:endParaRPr lang="en-US" altLang="ko-KR" sz="1400" b="1" dirty="0">
              <a:latin typeface="Noto Sans TC DemiLight" panose="020B0200000000000000" pitchFamily="34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Noto Sans TC DemiLight" panose="020B0200000000000000" pitchFamily="34" charset="-128"/>
              </a:rPr>
              <a:t>졸업프로젝트 지원금 총 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100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만원</a:t>
            </a:r>
            <a:endParaRPr lang="en-US" altLang="ko-KR" sz="1400" b="1" dirty="0">
              <a:latin typeface="Noto Sans TC DemiLight" panose="020B0200000000000000" pitchFamily="34" charset="-128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latin typeface="Noto Sans TC DemiLight" panose="020B0200000000000000" pitchFamily="34" charset="-128"/>
              </a:rPr>
              <a:t>자문료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, 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재료비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(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해당연구에 사용할 수 있는 부품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, 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소모성 재료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latin typeface="Noto Sans TC DemiLight" panose="020B0200000000000000" pitchFamily="34" charset="-128"/>
              </a:rPr>
              <a:t>AIT</a:t>
            </a:r>
            <a:r>
              <a:rPr lang="ko-KR" altLang="en-US" sz="1400" b="1" dirty="0" err="1">
                <a:latin typeface="Noto Sans TC DemiLight" panose="020B0200000000000000" pitchFamily="34" charset="-128"/>
              </a:rPr>
              <a:t>마일리지장학금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 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30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점 지급</a:t>
            </a:r>
            <a:endParaRPr lang="en-US" altLang="ko-KR" sz="1400" b="1" dirty="0">
              <a:latin typeface="Noto Sans TC DemiLight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796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879FC8-A214-AB37-004C-8B96FEB0D0C9}"/>
              </a:ext>
            </a:extLst>
          </p:cNvPr>
          <p:cNvSpPr txBox="1"/>
          <p:nvPr/>
        </p:nvSpPr>
        <p:spPr>
          <a:xfrm>
            <a:off x="1179364" y="962106"/>
            <a:ext cx="461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주요 진행 일정</a:t>
            </a:r>
            <a:r>
              <a:rPr lang="en-US" altLang="ko-KR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(</a:t>
            </a:r>
            <a:r>
              <a:rPr lang="ko-KR" altLang="en-US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사업단 기준</a:t>
            </a:r>
            <a:r>
              <a:rPr lang="en-US" altLang="ko-KR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)</a:t>
            </a:r>
            <a:endParaRPr lang="ko-KR" altLang="en-US" sz="28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Noto Sans TC DemiLight" panose="020B0200000000000000" pitchFamily="34" charset="-128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CA5E773-984B-F9F1-2984-76473A50A2F3}"/>
              </a:ext>
            </a:extLst>
          </p:cNvPr>
          <p:cNvGrpSpPr/>
          <p:nvPr/>
        </p:nvGrpSpPr>
        <p:grpSpPr>
          <a:xfrm>
            <a:off x="1079938" y="2965876"/>
            <a:ext cx="9609082" cy="88686"/>
            <a:chOff x="336988" y="3746058"/>
            <a:chExt cx="10287985" cy="83663"/>
          </a:xfrm>
          <a:effectLst/>
        </p:grpSpPr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768350CE-14F5-3756-2A3C-B3E2E98A79C5}"/>
                </a:ext>
              </a:extLst>
            </p:cNvPr>
            <p:cNvCxnSpPr>
              <a:cxnSpLocks/>
            </p:cNvCxnSpPr>
            <p:nvPr/>
          </p:nvCxnSpPr>
          <p:spPr>
            <a:xfrm>
              <a:off x="386256" y="3791607"/>
              <a:ext cx="10238717" cy="0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DE7D394-1D17-8343-7CAB-67E7756FCCC8}"/>
                </a:ext>
              </a:extLst>
            </p:cNvPr>
            <p:cNvSpPr/>
            <p:nvPr/>
          </p:nvSpPr>
          <p:spPr>
            <a:xfrm>
              <a:off x="336988" y="3746058"/>
              <a:ext cx="106451" cy="836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타원 10">
            <a:extLst>
              <a:ext uri="{FF2B5EF4-FFF2-40B4-BE49-F238E27FC236}">
                <a16:creationId xmlns:a16="http://schemas.microsoft.com/office/drawing/2014/main" id="{74123B96-418F-9D8C-B50B-E009383A2C0A}"/>
              </a:ext>
            </a:extLst>
          </p:cNvPr>
          <p:cNvSpPr/>
          <p:nvPr/>
        </p:nvSpPr>
        <p:spPr>
          <a:xfrm>
            <a:off x="2029807" y="2877853"/>
            <a:ext cx="273098" cy="273098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93EDFF4-A295-CDFF-1AD3-C35025E5E1D2}"/>
              </a:ext>
            </a:extLst>
          </p:cNvPr>
          <p:cNvSpPr/>
          <p:nvPr/>
        </p:nvSpPr>
        <p:spPr>
          <a:xfrm>
            <a:off x="4434982" y="2877853"/>
            <a:ext cx="273098" cy="273098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C694762-2DA3-44ED-5AF9-D03ED6F7C713}"/>
              </a:ext>
            </a:extLst>
          </p:cNvPr>
          <p:cNvSpPr/>
          <p:nvPr/>
        </p:nvSpPr>
        <p:spPr>
          <a:xfrm>
            <a:off x="9245333" y="2877853"/>
            <a:ext cx="273098" cy="273098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7B2512-9869-603A-BCFF-D2E9F1E37D35}"/>
              </a:ext>
            </a:extLst>
          </p:cNvPr>
          <p:cNvSpPr txBox="1"/>
          <p:nvPr/>
        </p:nvSpPr>
        <p:spPr>
          <a:xfrm>
            <a:off x="1585107" y="2433616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주제선정 완료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C932C4-6627-2EEF-4B49-A45C38EF557C}"/>
              </a:ext>
            </a:extLst>
          </p:cNvPr>
          <p:cNvSpPr txBox="1"/>
          <p:nvPr/>
        </p:nvSpPr>
        <p:spPr>
          <a:xfrm>
            <a:off x="3963031" y="2299860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~3/27</a:t>
            </a:r>
          </a:p>
          <a:p>
            <a:pPr algn="ctr"/>
            <a:r>
              <a:rPr lang="ko-KR" altLang="en-US" sz="1200" dirty="0"/>
              <a:t>서류 제출 완료</a:t>
            </a:r>
            <a:endParaRPr lang="en-US" altLang="ko-KR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B00267-90E7-9374-3D02-B84590D12BBF}"/>
              </a:ext>
            </a:extLst>
          </p:cNvPr>
          <p:cNvSpPr txBox="1"/>
          <p:nvPr/>
        </p:nvSpPr>
        <p:spPr>
          <a:xfrm>
            <a:off x="8773381" y="2335861"/>
            <a:ext cx="13163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~7/31</a:t>
            </a:r>
          </a:p>
          <a:p>
            <a:pPr algn="ctr"/>
            <a:r>
              <a:rPr lang="ko-KR" altLang="en-US" sz="1200" dirty="0"/>
              <a:t>결과보고서 제출</a:t>
            </a:r>
            <a:endParaRPr lang="en-US" altLang="ko-KR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F4CCC01-F283-42C1-9AEF-E3E6F89F6DA6}"/>
              </a:ext>
            </a:extLst>
          </p:cNvPr>
          <p:cNvSpPr/>
          <p:nvPr/>
        </p:nvSpPr>
        <p:spPr>
          <a:xfrm>
            <a:off x="3890009" y="3376763"/>
            <a:ext cx="1364209" cy="54980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신청서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협약서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구매물품 신청서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858E273-5EE5-51B4-6412-40A82480341A}"/>
              </a:ext>
            </a:extLst>
          </p:cNvPr>
          <p:cNvSpPr/>
          <p:nvPr/>
        </p:nvSpPr>
        <p:spPr>
          <a:xfrm>
            <a:off x="8716904" y="3376763"/>
            <a:ext cx="1329956" cy="549808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최종 결과 보고서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5F9F3A5-32E8-B9ED-9BB0-1DA992EDD635}"/>
              </a:ext>
            </a:extLst>
          </p:cNvPr>
          <p:cNvCxnSpPr>
            <a:stCxn id="12" idx="4"/>
            <a:endCxn id="26" idx="0"/>
          </p:cNvCxnSpPr>
          <p:nvPr/>
        </p:nvCxnSpPr>
        <p:spPr>
          <a:xfrm>
            <a:off x="4571531" y="3150951"/>
            <a:ext cx="583" cy="2258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A5F8F0C-5DB8-CE97-82F7-4AD01D3E4D37}"/>
              </a:ext>
            </a:extLst>
          </p:cNvPr>
          <p:cNvCxnSpPr>
            <a:cxnSpLocks/>
            <a:stCxn id="27" idx="0"/>
            <a:endCxn id="15" idx="4"/>
          </p:cNvCxnSpPr>
          <p:nvPr/>
        </p:nvCxnSpPr>
        <p:spPr>
          <a:xfrm flipV="1">
            <a:off x="9381882" y="3150951"/>
            <a:ext cx="0" cy="2258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62CCC97-B92B-1CF1-0467-92AC6D934E1A}"/>
              </a:ext>
            </a:extLst>
          </p:cNvPr>
          <p:cNvSpPr txBox="1"/>
          <p:nvPr/>
        </p:nvSpPr>
        <p:spPr>
          <a:xfrm>
            <a:off x="1179364" y="4634301"/>
            <a:ext cx="91422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3/27 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서류제출</a:t>
            </a:r>
            <a:r>
              <a:rPr lang="en-US" altLang="ko-KR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. 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물품신청이 완료되어야</a:t>
            </a:r>
            <a:r>
              <a:rPr lang="en-US" altLang="ko-KR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, 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물품 구매</a:t>
            </a:r>
            <a:r>
              <a:rPr lang="en-US" altLang="ko-KR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/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배송이 원활하게 진행가능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.</a:t>
            </a:r>
            <a:endParaRPr lang="en-US" altLang="ko-KR" sz="1400" b="1" dirty="0">
              <a:latin typeface="Noto Sans TC DemiLight" panose="020B0200000000000000" pitchFamily="34" charset="-128"/>
              <a:ea typeface="Noto Sans TC DemiLight" panose="020B0200000000000000" pitchFamily="34" charset="-128"/>
            </a:endParaRPr>
          </a:p>
          <a:p>
            <a:pPr marL="285750" indent="-285750">
              <a:buFontTx/>
              <a:buChar char="-"/>
            </a:pPr>
            <a:r>
              <a:rPr lang="ko-KR" altLang="en-US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물품 구매 완료 이후 추가 구매 불가</a:t>
            </a:r>
            <a:r>
              <a:rPr lang="en-US" altLang="ko-KR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400" b="1" dirty="0">
              <a:latin typeface="Noto Sans TC DemiLight" panose="020B0200000000000000" pitchFamily="34" charset="-128"/>
              <a:ea typeface="Noto Sans TC DemiLight" panose="020B0200000000000000" pitchFamily="34" charset="-128"/>
            </a:endParaRPr>
          </a:p>
          <a:p>
            <a:pPr marL="285750" indent="-285750">
              <a:buFontTx/>
              <a:buChar char="-"/>
            </a:pPr>
            <a:r>
              <a:rPr lang="en-US" altLang="ko-KR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7/31 </a:t>
            </a:r>
            <a:r>
              <a:rPr lang="ko-KR" altLang="en-US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최종 결과 보고서는 사업단 제출</a:t>
            </a:r>
            <a:r>
              <a:rPr lang="en-US" altLang="ko-KR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(</a:t>
            </a:r>
            <a:r>
              <a:rPr lang="ko-KR" altLang="en-US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최종프로젝트 마감</a:t>
            </a:r>
            <a:r>
              <a:rPr lang="en-US" altLang="ko-KR" sz="1400" b="1" dirty="0">
                <a:latin typeface="Noto Sans TC DemiLight" panose="020B0200000000000000" pitchFamily="34" charset="-128"/>
                <a:ea typeface="Noto Sans TC DemiLight" panose="020B0200000000000000" pitchFamily="34" charset="-128"/>
              </a:rPr>
              <a:t>)</a:t>
            </a:r>
          </a:p>
          <a:p>
            <a:pPr marL="285750" indent="-285750">
              <a:buFontTx/>
              <a:buChar char="-"/>
            </a:pPr>
            <a:endParaRPr lang="en-US" altLang="ko-KR" sz="1400" b="1" dirty="0">
              <a:latin typeface="Noto Sans TC DemiLight" panose="020B0200000000000000" pitchFamily="34" charset="-128"/>
              <a:ea typeface="Noto Sans TC DemiLight" panose="020B0200000000000000" pitchFamily="34" charset="-128"/>
            </a:endParaRPr>
          </a:p>
          <a:p>
            <a:pPr marL="285750" indent="-285750">
              <a:buFontTx/>
              <a:buChar char="-"/>
            </a:pPr>
            <a:r>
              <a:rPr lang="ko-KR" altLang="en-US" sz="1400" b="1" dirty="0">
                <a:latin typeface="Noto Sans TC DemiLight" panose="020B0200000000000000" pitchFamily="34" charset="-128"/>
              </a:rPr>
              <a:t>신청서 및 결과보고서는 사업단 </a:t>
            </a:r>
            <a:r>
              <a:rPr lang="ko-KR" altLang="en-US" sz="1400" b="1" dirty="0" err="1">
                <a:latin typeface="Noto Sans TC DemiLight" panose="020B0200000000000000" pitchFamily="34" charset="-128"/>
              </a:rPr>
              <a:t>장희원</a:t>
            </a:r>
            <a:r>
              <a:rPr lang="ko-KR" altLang="en-US" sz="1400" b="1" dirty="0">
                <a:latin typeface="Noto Sans TC DemiLight" panose="020B0200000000000000" pitchFamily="34" charset="-128"/>
              </a:rPr>
              <a:t> 선생님께 제출</a:t>
            </a:r>
            <a:r>
              <a:rPr lang="en-US" altLang="ko-KR" sz="1400" b="1" dirty="0">
                <a:latin typeface="Noto Sans TC DemiLight" panose="020B0200000000000000" pitchFamily="34" charset="-128"/>
              </a:rPr>
              <a:t>.</a:t>
            </a:r>
            <a:r>
              <a:rPr lang="en-US" altLang="ko-KR" sz="1100" b="1" dirty="0">
                <a:latin typeface="Noto Sans TC DemiLight" panose="020B0200000000000000" pitchFamily="34" charset="-128"/>
              </a:rPr>
              <a:t>  </a:t>
            </a:r>
            <a:r>
              <a:rPr lang="ko-KR" altLang="en-US" sz="1100" b="1" dirty="0">
                <a:latin typeface="Noto Sans TC DemiLight" panose="020B0200000000000000" pitchFamily="34" charset="-128"/>
              </a:rPr>
              <a:t>이메일 </a:t>
            </a:r>
            <a:r>
              <a:rPr lang="en-US" altLang="ko-KR" sz="1100" b="1" dirty="0">
                <a:latin typeface="Noto Sans TC DemiLight" panose="020B0200000000000000" pitchFamily="34" charset="-128"/>
              </a:rPr>
              <a:t>(250157@hosoe.edu) or </a:t>
            </a:r>
            <a:r>
              <a:rPr lang="ko-KR" altLang="en-US" sz="1100" b="1" dirty="0">
                <a:latin typeface="Noto Sans TC DemiLight" panose="020B0200000000000000" pitchFamily="34" charset="-128"/>
              </a:rPr>
              <a:t>카카오워크</a:t>
            </a:r>
            <a:r>
              <a:rPr lang="en-US" altLang="ko-KR" sz="1100" b="1" dirty="0">
                <a:latin typeface="Noto Sans TC DemiLight" panose="020B0200000000000000" pitchFamily="34" charset="-128"/>
              </a:rPr>
              <a:t>(</a:t>
            </a:r>
            <a:r>
              <a:rPr lang="ko-KR" altLang="en-US" sz="1100" b="1" dirty="0" err="1">
                <a:latin typeface="Noto Sans TC DemiLight" panose="020B0200000000000000" pitchFamily="34" charset="-128"/>
              </a:rPr>
              <a:t>장희원</a:t>
            </a:r>
            <a:r>
              <a:rPr lang="ko-KR" altLang="en-US" sz="1100" b="1" dirty="0">
                <a:latin typeface="Noto Sans TC DemiLight" panose="020B0200000000000000" pitchFamily="34" charset="-128"/>
              </a:rPr>
              <a:t> </a:t>
            </a:r>
            <a:r>
              <a:rPr lang="en-US" altLang="ko-KR" sz="1100" b="1" dirty="0">
                <a:latin typeface="Noto Sans TC DemiLight" panose="020B0200000000000000" pitchFamily="34" charset="-128"/>
              </a:rPr>
              <a:t>SW</a:t>
            </a:r>
            <a:r>
              <a:rPr lang="ko-KR" altLang="en-US" sz="1100" b="1" dirty="0">
                <a:latin typeface="Noto Sans TC DemiLight" panose="020B0200000000000000" pitchFamily="34" charset="-128"/>
              </a:rPr>
              <a:t> 사업단 선생님</a:t>
            </a:r>
            <a:r>
              <a:rPr lang="en-US" altLang="ko-KR" sz="1100" b="1" dirty="0">
                <a:latin typeface="Noto Sans TC DemiLight" panose="020B0200000000000000" pitchFamily="34" charset="-128"/>
              </a:rPr>
              <a:t>)</a:t>
            </a:r>
            <a:endParaRPr lang="ko-KR" altLang="en-US" sz="1400" b="1" dirty="0">
              <a:latin typeface="Noto Sans TC DemiLight" panose="020B0200000000000000" pitchFamily="34" charset="-128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BE804DE-392D-A7BA-FC99-2E8F79D842DC}"/>
              </a:ext>
            </a:extLst>
          </p:cNvPr>
          <p:cNvSpPr/>
          <p:nvPr/>
        </p:nvSpPr>
        <p:spPr>
          <a:xfrm>
            <a:off x="6840157" y="2877611"/>
            <a:ext cx="273098" cy="273098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20D1FD-8FB1-5D26-8DBB-0231D1241FE7}"/>
              </a:ext>
            </a:extLst>
          </p:cNvPr>
          <p:cNvSpPr txBox="1"/>
          <p:nvPr/>
        </p:nvSpPr>
        <p:spPr>
          <a:xfrm>
            <a:off x="6395457" y="2345368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4/15~24</a:t>
            </a:r>
          </a:p>
          <a:p>
            <a:pPr algn="ctr"/>
            <a:r>
              <a:rPr lang="ko-KR" altLang="en-US" sz="1200" dirty="0"/>
              <a:t>재료 구매진행</a:t>
            </a:r>
            <a:endParaRPr lang="en-US" altLang="ko-KR" sz="1200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95013F10-15BB-0EB7-CB84-D1630B05D017}"/>
              </a:ext>
            </a:extLst>
          </p:cNvPr>
          <p:cNvSpPr/>
          <p:nvPr/>
        </p:nvSpPr>
        <p:spPr>
          <a:xfrm>
            <a:off x="6298723" y="3376766"/>
            <a:ext cx="1364209" cy="54980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중간고사 이후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물품 수령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B5D3F87C-B0A7-1A4E-D6D6-E5595F17E22F}"/>
              </a:ext>
            </a:extLst>
          </p:cNvPr>
          <p:cNvCxnSpPr>
            <a:cxnSpLocks/>
            <a:stCxn id="41" idx="4"/>
            <a:endCxn id="43" idx="0"/>
          </p:cNvCxnSpPr>
          <p:nvPr/>
        </p:nvCxnSpPr>
        <p:spPr>
          <a:xfrm>
            <a:off x="6976706" y="3150709"/>
            <a:ext cx="4122" cy="2260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681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ABB69E-3065-279E-BBDB-E56C54A88E5E}"/>
              </a:ext>
            </a:extLst>
          </p:cNvPr>
          <p:cNvSpPr txBox="1"/>
          <p:nvPr/>
        </p:nvSpPr>
        <p:spPr>
          <a:xfrm>
            <a:off x="1139950" y="437902"/>
            <a:ext cx="2419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신청서 작성법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7F56F6-F25F-5CF5-9681-08896A39C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41" y="961122"/>
            <a:ext cx="3858239" cy="5598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7C6950-D4FD-6E67-2CE5-32E9E2FF27D3}"/>
              </a:ext>
            </a:extLst>
          </p:cNvPr>
          <p:cNvSpPr txBox="1"/>
          <p:nvPr/>
        </p:nvSpPr>
        <p:spPr>
          <a:xfrm>
            <a:off x="4687284" y="1240460"/>
            <a:ext cx="73102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Noto Sans TC DemiLight" panose="020B0200000000000000" pitchFamily="34" charset="-128"/>
              </a:rPr>
              <a:t>-   기업연계 </a:t>
            </a:r>
            <a:r>
              <a:rPr lang="ko-KR" altLang="en-US" b="1" dirty="0" err="1">
                <a:latin typeface="Noto Sans TC DemiLight" panose="020B0200000000000000" pitchFamily="34" charset="-128"/>
              </a:rPr>
              <a:t>캡스톤디자인</a:t>
            </a:r>
            <a:r>
              <a:rPr lang="ko-KR" altLang="en-US" b="1" dirty="0">
                <a:latin typeface="Noto Sans TC DemiLight" panose="020B0200000000000000" pitchFamily="34" charset="-128"/>
              </a:rPr>
              <a:t> </a:t>
            </a:r>
            <a:r>
              <a:rPr lang="ko-KR" altLang="en-US" b="1" dirty="0" err="1">
                <a:latin typeface="Noto Sans TC DemiLight" panose="020B0200000000000000" pitchFamily="34" charset="-128"/>
              </a:rPr>
              <a:t>or</a:t>
            </a:r>
            <a:r>
              <a:rPr lang="ko-KR" altLang="en-US" b="1" dirty="0">
                <a:latin typeface="Noto Sans TC DemiLight" panose="020B0200000000000000" pitchFamily="34" charset="-128"/>
              </a:rPr>
              <a:t> 기업-대학원 연계 </a:t>
            </a:r>
            <a:r>
              <a:rPr lang="ko-KR" altLang="en-US" b="1" dirty="0" err="1">
                <a:latin typeface="Noto Sans TC DemiLight" panose="020B0200000000000000" pitchFamily="34" charset="-128"/>
              </a:rPr>
              <a:t>캡스톤디자인</a:t>
            </a:r>
            <a:r>
              <a:rPr lang="ko-KR" altLang="en-US" b="1" dirty="0">
                <a:latin typeface="Noto Sans TC DemiLight" panose="020B0200000000000000" pitchFamily="34" charset="-128"/>
              </a:rPr>
              <a:t> 중 </a:t>
            </a:r>
            <a:r>
              <a:rPr lang="ko-KR" altLang="en-US" b="1" dirty="0" err="1">
                <a:latin typeface="Noto Sans TC DemiLight" panose="020B0200000000000000" pitchFamily="34" charset="-128"/>
              </a:rPr>
              <a:t>택</a:t>
            </a:r>
            <a:r>
              <a:rPr lang="ko-KR" altLang="en-US" b="1" dirty="0">
                <a:latin typeface="Noto Sans TC DemiLight" panose="020B0200000000000000" pitchFamily="34" charset="-128"/>
              </a:rPr>
              <a:t> 1</a:t>
            </a:r>
          </a:p>
          <a:p>
            <a:r>
              <a:rPr lang="ko-KR" altLang="en-US" b="1" dirty="0">
                <a:latin typeface="Noto Sans TC DemiLight" panose="020B0200000000000000" pitchFamily="34" charset="-128"/>
              </a:rPr>
              <a:t>    (대학원생 참여여부에 따라 구분)</a:t>
            </a:r>
            <a:endParaRPr lang="en-US" altLang="ko-KR" b="1" dirty="0">
              <a:latin typeface="Noto Sans TC DemiLight" panose="020B0200000000000000" pitchFamily="34" charset="-128"/>
            </a:endParaRPr>
          </a:p>
          <a:p>
            <a:endParaRPr lang="ko-KR" altLang="en-US" b="1" dirty="0">
              <a:latin typeface="Noto Sans TC DemiLight" panose="020B0200000000000000" pitchFamily="34" charset="-128"/>
            </a:endParaRPr>
          </a:p>
          <a:p>
            <a:r>
              <a:rPr lang="ko-KR" altLang="en-US" b="1" dirty="0">
                <a:latin typeface="Noto Sans TC DemiLight" panose="020B0200000000000000" pitchFamily="34" charset="-128"/>
              </a:rPr>
              <a:t>-   </a:t>
            </a:r>
            <a:r>
              <a:rPr lang="ko-KR" altLang="en-US" b="1" dirty="0" err="1">
                <a:latin typeface="Noto Sans TC DemiLight" panose="020B0200000000000000" pitchFamily="34" charset="-128"/>
              </a:rPr>
              <a:t>기업멘토가</a:t>
            </a:r>
            <a:r>
              <a:rPr lang="ko-KR" altLang="en-US" b="1" dirty="0">
                <a:latin typeface="Noto Sans TC DemiLight" panose="020B0200000000000000" pitchFamily="34" charset="-128"/>
              </a:rPr>
              <a:t> 필수 참여이며, 자문료 지급가능</a:t>
            </a:r>
            <a:r>
              <a:rPr lang="en-US" altLang="ko-KR" b="1" dirty="0">
                <a:latin typeface="Noto Sans TC DemiLight" panose="020B0200000000000000" pitchFamily="34" charset="-128"/>
              </a:rPr>
              <a:t>(1</a:t>
            </a:r>
            <a:r>
              <a:rPr lang="ko-KR" altLang="en-US" b="1" dirty="0">
                <a:latin typeface="Noto Sans TC DemiLight" panose="020B0200000000000000" pitchFamily="34" charset="-128"/>
              </a:rPr>
              <a:t>회 최대 </a:t>
            </a:r>
            <a:r>
              <a:rPr lang="en-US" altLang="ko-KR" b="1" dirty="0">
                <a:latin typeface="Noto Sans TC DemiLight" panose="020B0200000000000000" pitchFamily="34" charset="-128"/>
              </a:rPr>
              <a:t>20</a:t>
            </a:r>
            <a:r>
              <a:rPr lang="ko-KR" altLang="en-US" b="1" dirty="0">
                <a:latin typeface="Noto Sans TC DemiLight" panose="020B0200000000000000" pitchFamily="34" charset="-128"/>
              </a:rPr>
              <a:t>만원</a:t>
            </a:r>
            <a:r>
              <a:rPr lang="en-US" altLang="ko-KR" b="1" dirty="0">
                <a:latin typeface="Noto Sans TC DemiLight" panose="020B0200000000000000" pitchFamily="34" charset="-128"/>
              </a:rPr>
              <a:t>)</a:t>
            </a:r>
            <a:endParaRPr lang="ko-KR" altLang="en-US" b="1" dirty="0">
              <a:latin typeface="Noto Sans TC DemiLight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5737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456E5E-3DCC-470B-880A-BE26E00165B1}"/>
              </a:ext>
            </a:extLst>
          </p:cNvPr>
          <p:cNvSpPr txBox="1"/>
          <p:nvPr/>
        </p:nvSpPr>
        <p:spPr>
          <a:xfrm>
            <a:off x="1139950" y="437902"/>
            <a:ext cx="2419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신청서 작성법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358BEE-86F8-21BC-6AA5-1CCD63687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65" y="1070394"/>
            <a:ext cx="5624047" cy="534970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C78F73-7C0F-D77C-F16B-6BAB69213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812" y="1070394"/>
            <a:ext cx="4564776" cy="262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60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73BE12-EB67-CF7F-7CD8-14B508AE1DC6}"/>
              </a:ext>
            </a:extLst>
          </p:cNvPr>
          <p:cNvSpPr txBox="1"/>
          <p:nvPr/>
        </p:nvSpPr>
        <p:spPr>
          <a:xfrm>
            <a:off x="1139950" y="437902"/>
            <a:ext cx="2419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신청서 작성법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E50BD-39A8-DC58-6435-248C0FEAEC25}"/>
              </a:ext>
            </a:extLst>
          </p:cNvPr>
          <p:cNvSpPr txBox="1"/>
          <p:nvPr/>
        </p:nvSpPr>
        <p:spPr>
          <a:xfrm>
            <a:off x="6706768" y="1734894"/>
            <a:ext cx="48375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Noto Sans TC DemiLight" panose="020B0200000000000000" pitchFamily="34" charset="-128"/>
              </a:rPr>
              <a:t> - 원칙적으로 기자재, 도서 구입 불가. </a:t>
            </a:r>
          </a:p>
          <a:p>
            <a:r>
              <a:rPr lang="ko-KR" altLang="en-US" b="1" dirty="0">
                <a:latin typeface="Noto Sans TC DemiLight" panose="020B0200000000000000" pitchFamily="34" charset="-128"/>
              </a:rPr>
              <a:t> - 소모품성 재료비만 구입 가능. </a:t>
            </a:r>
          </a:p>
          <a:p>
            <a:r>
              <a:rPr lang="ko-KR" altLang="en-US" b="1" dirty="0">
                <a:latin typeface="Noto Sans TC DemiLight" panose="020B0200000000000000" pitchFamily="34" charset="-128"/>
              </a:rPr>
              <a:t> - 멘토 자문료</a:t>
            </a:r>
          </a:p>
          <a:p>
            <a:r>
              <a:rPr lang="ko-KR" altLang="en-US" b="1" dirty="0">
                <a:latin typeface="Noto Sans TC DemiLight" panose="020B0200000000000000" pitchFamily="34" charset="-128"/>
              </a:rPr>
              <a:t>   (최대2회까지 가능. 1회당 20만원)</a:t>
            </a:r>
          </a:p>
          <a:p>
            <a:r>
              <a:rPr lang="ko-KR" altLang="en-US" b="1" dirty="0">
                <a:latin typeface="Noto Sans TC DemiLight" panose="020B0200000000000000" pitchFamily="34" charset="-128"/>
              </a:rPr>
              <a:t> - 총 연구비 </a:t>
            </a:r>
            <a:r>
              <a:rPr lang="en-US" altLang="ko-KR" b="1" dirty="0">
                <a:latin typeface="Noto Sans TC DemiLight" panose="020B0200000000000000" pitchFamily="34" charset="-128"/>
              </a:rPr>
              <a:t>100</a:t>
            </a:r>
            <a:r>
              <a:rPr lang="ko-KR" altLang="en-US" b="1" dirty="0">
                <a:latin typeface="Noto Sans TC DemiLight" panose="020B0200000000000000" pitchFamily="34" charset="-128"/>
              </a:rPr>
              <a:t>만원 이내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C4C5186-C5D8-0972-0921-48B3BC7BD36A}"/>
              </a:ext>
            </a:extLst>
          </p:cNvPr>
          <p:cNvGrpSpPr/>
          <p:nvPr/>
        </p:nvGrpSpPr>
        <p:grpSpPr>
          <a:xfrm>
            <a:off x="940821" y="1196558"/>
            <a:ext cx="5738357" cy="4031329"/>
            <a:chOff x="968411" y="1094082"/>
            <a:chExt cx="5738357" cy="403132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15B9C07-DEDF-2373-444B-E258CC73A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411" y="1094082"/>
              <a:ext cx="5738357" cy="4031329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E136AD3-9404-F11F-3D12-8BFBD3828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9131" y="4095715"/>
              <a:ext cx="940425" cy="227978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A725E52-2707-52DB-FC36-D2A129014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6518" y="4095715"/>
              <a:ext cx="940425" cy="227978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33EC43D-B4C3-4F7B-76B7-2B6B86085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95788" y="4398698"/>
              <a:ext cx="940425" cy="25496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269D474-E429-8CAF-AD0C-3CD164BE0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" t="6093" r="6940"/>
            <a:stretch/>
          </p:blipFill>
          <p:spPr>
            <a:xfrm>
              <a:off x="5970907" y="4694957"/>
              <a:ext cx="132975" cy="254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6247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C8A530-262F-B0CD-B80C-0B3BF94BCAB3}"/>
              </a:ext>
            </a:extLst>
          </p:cNvPr>
          <p:cNvSpPr txBox="1"/>
          <p:nvPr/>
        </p:nvSpPr>
        <p:spPr>
          <a:xfrm>
            <a:off x="1139950" y="437902"/>
            <a:ext cx="2419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Noto Sans TC DemiLight" panose="020B0200000000000000" pitchFamily="34" charset="-128"/>
              </a:rPr>
              <a:t>신청서 작성법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6ED873-FBE0-3523-383E-05D1B80A0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26" y="1106954"/>
            <a:ext cx="4932210" cy="51086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335B8B-3FEA-34BD-61D2-6DF0E4F3DD52}"/>
              </a:ext>
            </a:extLst>
          </p:cNvPr>
          <p:cNvSpPr txBox="1"/>
          <p:nvPr/>
        </p:nvSpPr>
        <p:spPr>
          <a:xfrm>
            <a:off x="6000094" y="1495079"/>
            <a:ext cx="619190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Noto Sans TC DemiLight" panose="020B0200000000000000" pitchFamily="34" charset="-128"/>
              </a:rPr>
              <a:t>1. 재료비 구매 가능 물품</a:t>
            </a:r>
            <a:endParaRPr lang="en-US" altLang="ko-KR" sz="1600" b="1" dirty="0">
              <a:latin typeface="Noto Sans TC DemiLight" panose="020B0200000000000000" pitchFamily="34" charset="-128"/>
            </a:endParaRPr>
          </a:p>
          <a:p>
            <a:r>
              <a:rPr lang="en-US" altLang="ko-KR" sz="1600" b="1" dirty="0">
                <a:latin typeface="Noto Sans TC DemiLight" panose="020B0200000000000000" pitchFamily="34" charset="-128"/>
              </a:rPr>
              <a:t>- </a:t>
            </a:r>
            <a:r>
              <a:rPr lang="ko-KR" altLang="en-US" sz="1600" b="1" dirty="0" err="1">
                <a:latin typeface="Noto Sans TC DemiLight" panose="020B0200000000000000" pitchFamily="34" charset="-128"/>
              </a:rPr>
              <a:t>아두이노</a:t>
            </a:r>
            <a:r>
              <a:rPr lang="ko-KR" altLang="en-US" sz="1600" b="1" dirty="0">
                <a:latin typeface="Noto Sans TC DemiLight" panose="020B0200000000000000" pitchFamily="34" charset="-128"/>
              </a:rPr>
              <a:t>, 라즈베리 파이 및 센서 모듈</a:t>
            </a:r>
          </a:p>
          <a:p>
            <a:r>
              <a:rPr lang="en-US" altLang="ko-KR" sz="1600" b="1" dirty="0">
                <a:latin typeface="Noto Sans TC DemiLight" panose="020B0200000000000000" pitchFamily="34" charset="-128"/>
              </a:rPr>
              <a:t>-</a:t>
            </a:r>
            <a:r>
              <a:rPr lang="ko-KR" altLang="en-US" sz="1600" b="1" dirty="0">
                <a:latin typeface="Noto Sans TC DemiLight" panose="020B0200000000000000" pitchFamily="34" charset="-128"/>
              </a:rPr>
              <a:t>소모성 물품 ( 테이프, 아크릴, 케이블 등 )</a:t>
            </a:r>
            <a:endParaRPr lang="en-US" altLang="ko-KR" sz="1600" b="1" dirty="0">
              <a:latin typeface="Noto Sans TC DemiLight" panose="020B0200000000000000" pitchFamily="34" charset="-128"/>
            </a:endParaRPr>
          </a:p>
          <a:p>
            <a:pPr marL="285750" indent="-285750">
              <a:buFontTx/>
              <a:buChar char="-"/>
            </a:pPr>
            <a:endParaRPr lang="ko-KR" altLang="en-US" sz="1600" b="1" dirty="0">
              <a:latin typeface="Noto Sans TC DemiLight" panose="020B0200000000000000" pitchFamily="34" charset="-128"/>
            </a:endParaRPr>
          </a:p>
          <a:p>
            <a:r>
              <a:rPr lang="ko-KR" altLang="en-US" sz="1600" b="1" dirty="0">
                <a:latin typeface="Noto Sans TC DemiLight" panose="020B0200000000000000" pitchFamily="34" charset="-128"/>
              </a:rPr>
              <a:t>2. 구매 불가 물품 (범용성 유형)</a:t>
            </a:r>
          </a:p>
          <a:p>
            <a:r>
              <a:rPr lang="ko-KR" altLang="en-US" sz="1600" b="1" dirty="0">
                <a:latin typeface="Noto Sans TC DemiLight" panose="020B0200000000000000" pitchFamily="34" charset="-128"/>
              </a:rPr>
              <a:t>- PC, 모니터, 키보드, 마우스 등 컴퓨터 주변 장치</a:t>
            </a:r>
          </a:p>
          <a:p>
            <a:r>
              <a:rPr lang="ko-KR" altLang="en-US" sz="1600" b="1" dirty="0">
                <a:latin typeface="Noto Sans TC DemiLight" panose="020B0200000000000000" pitchFamily="34" charset="-128"/>
              </a:rPr>
              <a:t>- RAM, GPU 등 컴퓨터 부품</a:t>
            </a:r>
          </a:p>
          <a:p>
            <a:endParaRPr lang="ko-KR" altLang="en-US" sz="1600" b="1" dirty="0">
              <a:latin typeface="Noto Sans TC DemiLight" panose="020B0200000000000000" pitchFamily="34" charset="-128"/>
            </a:endParaRPr>
          </a:p>
          <a:p>
            <a:r>
              <a:rPr lang="ko-KR" altLang="en-US" sz="1600" b="1" dirty="0">
                <a:latin typeface="Noto Sans TC DemiLight" panose="020B0200000000000000" pitchFamily="34" charset="-128"/>
              </a:rPr>
              <a:t>3. 구매 요청</a:t>
            </a:r>
          </a:p>
          <a:p>
            <a:r>
              <a:rPr lang="ko-KR" altLang="en-US" sz="1600" b="1" dirty="0">
                <a:latin typeface="Noto Sans TC DemiLight" panose="020B0200000000000000" pitchFamily="34" charset="-128"/>
              </a:rPr>
              <a:t>- </a:t>
            </a:r>
            <a:r>
              <a:rPr lang="ko-KR" altLang="en-US" sz="1600" b="1" dirty="0" err="1">
                <a:latin typeface="Noto Sans TC DemiLight" panose="020B0200000000000000" pitchFamily="34" charset="-128"/>
              </a:rPr>
              <a:t>디바이스마트</a:t>
            </a:r>
            <a:r>
              <a:rPr lang="ko-KR" altLang="en-US" sz="1600" b="1" dirty="0">
                <a:latin typeface="Noto Sans TC DemiLight" panose="020B0200000000000000" pitchFamily="34" charset="-128"/>
              </a:rPr>
              <a:t>, </a:t>
            </a:r>
            <a:r>
              <a:rPr lang="ko-KR" altLang="en-US" sz="1600" b="1" dirty="0" err="1">
                <a:latin typeface="Noto Sans TC DemiLight" panose="020B0200000000000000" pitchFamily="34" charset="-128"/>
              </a:rPr>
              <a:t>컴퓨존</a:t>
            </a:r>
            <a:r>
              <a:rPr lang="ko-KR" altLang="en-US" sz="1600" b="1" dirty="0">
                <a:latin typeface="Noto Sans TC DemiLight" panose="020B0200000000000000" pitchFamily="34" charset="-128"/>
              </a:rPr>
              <a:t> 등에서 구매 가능하며</a:t>
            </a:r>
            <a:r>
              <a:rPr lang="en-US" altLang="ko-KR" sz="1600" b="1" dirty="0">
                <a:latin typeface="Noto Sans TC DemiLight" panose="020B0200000000000000" pitchFamily="34" charset="-128"/>
              </a:rPr>
              <a:t>,</a:t>
            </a:r>
            <a:r>
              <a:rPr lang="ko-KR" altLang="en-US" sz="1600" b="1" dirty="0">
                <a:latin typeface="Noto Sans TC DemiLight" panose="020B0200000000000000" pitchFamily="34" charset="-128"/>
              </a:rPr>
              <a:t> 견적서 출력 후 물품 구매 요구서와 같이 제출</a:t>
            </a:r>
          </a:p>
          <a:p>
            <a:r>
              <a:rPr lang="ko-KR" altLang="en-US" sz="1600" b="1" dirty="0">
                <a:latin typeface="Noto Sans TC DemiLight" panose="020B0200000000000000" pitchFamily="34" charset="-128"/>
              </a:rPr>
              <a:t>- 디바이스 마트에 없는 경우는 후불거래가 가능하고, 전자세금계산서 발급이 가능한 사이트에서 견적서 발행 후 제출</a:t>
            </a:r>
          </a:p>
        </p:txBody>
      </p:sp>
    </p:spTree>
    <p:extLst>
      <p:ext uri="{BB962C8B-B14F-4D97-AF65-F5344CB8AC3E}">
        <p14:creationId xmlns:p14="http://schemas.microsoft.com/office/powerpoint/2010/main" val="115534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343</Words>
  <Application>Microsoft Office PowerPoint</Application>
  <PresentationFormat>와이드스크린</PresentationFormat>
  <Paragraphs>59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Noto Sans TC DemiLight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HOSEO</dc:creator>
  <cp:lastModifiedBy>희원 장</cp:lastModifiedBy>
  <cp:revision>4</cp:revision>
  <cp:lastPrinted>2025-11-17T07:08:50Z</cp:lastPrinted>
  <dcterms:created xsi:type="dcterms:W3CDTF">2025-11-17T05:06:42Z</dcterms:created>
  <dcterms:modified xsi:type="dcterms:W3CDTF">2026-03-09T01:04:07Z</dcterms:modified>
</cp:coreProperties>
</file>